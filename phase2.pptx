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38" y="7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a588e3b9_2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g3bca588e3b9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a588e3b9_2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g3bca588e3b9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a588e3b9_2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g3bca588e3b9_2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a588e3b9_2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g3bca588e3b9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ca588e3b9_2_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ca588e3b9_2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ca588e3b9_2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g3bca588e3b9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ca588e3b9_2_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g3bca588e3b9_2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ca588e3b9_2_1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g3bca588e3b9_2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ca588e3b9_2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g3bca588e3b9_2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ca588e3b9_2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g3bca588e3b9_2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-14287" y="1428750"/>
            <a:ext cx="9158288" cy="37147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-14287" y="0"/>
            <a:ext cx="9158288" cy="3328988"/>
          </a:xfrm>
          <a:custGeom>
            <a:avLst/>
            <a:gdLst/>
            <a:ahLst/>
            <a:cxnLst/>
            <a:rect l="l" t="t" r="r" b="b"/>
            <a:pathLst>
              <a:path w="12211050" h="4438650" extrusionOk="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rgbClr val="17161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814388" y="757238"/>
            <a:ext cx="7515225" cy="39290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5"/>
          <p:cNvSpPr>
            <a:spLocks noGrp="1"/>
          </p:cNvSpPr>
          <p:nvPr>
            <p:ph type="pic" idx="2"/>
          </p:nvPr>
        </p:nvSpPr>
        <p:spPr>
          <a:xfrm>
            <a:off x="1385888" y="2114550"/>
            <a:ext cx="6372225" cy="21002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-3316" y="4540346"/>
            <a:ext cx="9147315" cy="329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226648" y="4426489"/>
            <a:ext cx="34289" cy="4604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6572250" y="48815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 rot="10800000" flipH="1">
            <a:off x="7130143" y="4454910"/>
            <a:ext cx="968829" cy="868204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/>
          <p:nvPr/>
        </p:nvSpPr>
        <p:spPr>
          <a:xfrm flipH="1">
            <a:off x="5284124" y="210224"/>
            <a:ext cx="3859875" cy="43893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	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2023523" y="1107022"/>
            <a:ext cx="5177377" cy="2213197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5">
                <a:srgbClr val="FFFFFF">
                  <a:alpha val="0"/>
                </a:srgbClr>
              </a:gs>
              <a:gs pos="15000">
                <a:srgbClr val="FFFFFF">
                  <a:alpha val="32941"/>
                </a:srgbClr>
              </a:gs>
              <a:gs pos="51000">
                <a:schemeClr val="lt1"/>
              </a:gs>
              <a:gs pos="94000">
                <a:srgbClr val="FFFFFF">
                  <a:alpha val="32941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Submitted in the partial fulfillment for the award of the degree of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BACHELOR OF ENGINEERING 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Science and Business Systems 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/>
          <p:nvPr/>
        </p:nvSpPr>
        <p:spPr>
          <a:xfrm flipH="1">
            <a:off x="7372348" y="4000499"/>
            <a:ext cx="1774967" cy="120015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5161019" y="4514670"/>
            <a:ext cx="3696525" cy="48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" sz="15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" sz="15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5164335" y="4532735"/>
            <a:ext cx="34289" cy="2779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-79279" y="4545755"/>
            <a:ext cx="4412025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AIT-CSE</a:t>
            </a:r>
            <a:endParaRPr sz="12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913350" y="325988"/>
            <a:ext cx="7089900" cy="16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 b="1">
                <a:solidFill>
                  <a:schemeClr val="dk1"/>
                </a:solidFill>
              </a:rPr>
              <a:t>ML-Optimized Vehicle Routing for Urban Delivery Services</a:t>
            </a:r>
            <a:endParaRPr sz="7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6"/>
          <p:cNvSpPr txBox="1">
            <a:spLocks noGrp="1"/>
          </p:cNvSpPr>
          <p:nvPr>
            <p:ph type="sldNum" idx="12"/>
          </p:nvPr>
        </p:nvSpPr>
        <p:spPr>
          <a:xfrm>
            <a:off x="6572250" y="4999425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839269" y="3170619"/>
            <a:ext cx="4098900" cy="122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Nikhil Gusain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- 23BCB100</a:t>
            </a:r>
            <a:r>
              <a:rPr lang="en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Aryan Dhasmana - 23BCB10081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Simranjit Kaur - 23BCB10084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Vishal Gupta - 23BCB10080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759480" y="3433939"/>
            <a:ext cx="2499525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Supervision of: 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ts val="1500"/>
            </a:pPr>
            <a:r>
              <a:rPr lang="en-IN" sz="15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Krishna Kaushal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664257" y="273844"/>
            <a:ext cx="7886700" cy="73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664256" y="1191165"/>
            <a:ext cx="7886700" cy="3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 to Project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 Formulation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Objectives of the work 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Methodology used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and Outputs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Introduction to Project</a:t>
            </a:r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1"/>
          </p:nvPr>
        </p:nvSpPr>
        <p:spPr>
          <a:xfrm>
            <a:off x="462900" y="1338525"/>
            <a:ext cx="8218200" cy="27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Extends Phase 1 by incorporating </a:t>
            </a:r>
            <a:r>
              <a:rPr lang="en" b="1">
                <a:latin typeface="Arial"/>
                <a:ea typeface="Arial"/>
                <a:cs typeface="Arial"/>
                <a:sym typeface="Arial"/>
              </a:rPr>
              <a:t>advanced ML models and optimization techniques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Focus on improving prediction accuracy and routing efficiency.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Urban delivery systems face major challenges due to unpredictable demand and traffic conditions.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This project focuses on </a:t>
            </a:r>
            <a:r>
              <a:rPr lang="en" sz="2200" b="1">
                <a:latin typeface="Arial"/>
                <a:ea typeface="Arial"/>
                <a:cs typeface="Arial"/>
                <a:sym typeface="Arial"/>
              </a:rPr>
              <a:t>Stochastic Vehicle Routing Problem (SVRP)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for last-mile delivery.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It proposes a machine learning–driven approach to improve delivery efficiency in cities like Chandigarh.</a:t>
            </a:r>
            <a:endParaRPr sz="2200"/>
          </a:p>
        </p:txBody>
      </p:sp>
      <p:sp>
        <p:nvSpPr>
          <p:cNvPr id="161" name="Google Shape;161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62" name="Google Shape;162;p28"/>
          <p:cNvSpPr/>
          <p:nvPr/>
        </p:nvSpPr>
        <p:spPr>
          <a:xfrm>
            <a:off x="628651" y="1338526"/>
            <a:ext cx="8164500" cy="34128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Problem Formulation</a:t>
            </a:r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8075400" cy="3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latin typeface="Arial"/>
                <a:ea typeface="Arial"/>
                <a:cs typeface="Arial"/>
                <a:sym typeface="Arial"/>
              </a:rPr>
              <a:t>Problem Formulation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Traditional routing assumes fixed demand and travel times → unrealistic in urban environments.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Key uncertainties: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Dynamic customer demand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Time-varying traffic conditions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Objective: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Minimize delivery cost, time, and lateness under uncertainty.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Need for a system that adapts routes dynamically based on real-world conditions.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391946" y="1085665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title"/>
          </p:nvPr>
        </p:nvSpPr>
        <p:spPr>
          <a:xfrm>
            <a:off x="628650" y="240506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Objectives of the Work</a:t>
            </a:r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Develop a stochastic routing framework for urban delivery.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Predict demand and traffic patterns using ML models.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Integrate predictions with optimization algorithms.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Evaluate routing performance under real-world uncertainties.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Improve service quality and reduce delivery cost.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241371" y="1097768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Methodology used</a:t>
            </a:r>
            <a:endParaRPr/>
          </a:p>
        </p:txBody>
      </p:sp>
      <p:sp>
        <p:nvSpPr>
          <p:cNvPr id="184" name="Google Shape;184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246728" y="1202903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274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1"/>
          <p:cNvSpPr txBox="1">
            <a:spLocks noGrp="1"/>
          </p:cNvSpPr>
          <p:nvPr>
            <p:ph type="body" idx="1"/>
          </p:nvPr>
        </p:nvSpPr>
        <p:spPr>
          <a:xfrm>
            <a:off x="483425" y="1268050"/>
            <a:ext cx="7886700" cy="3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latin typeface="Arial"/>
                <a:ea typeface="Arial"/>
                <a:cs typeface="Arial"/>
                <a:sym typeface="Arial"/>
              </a:rPr>
              <a:t>Methodology Used</a:t>
            </a: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Advanced models: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LSTM (deep learning for time-series)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SPO+ (decision-focused learning)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Optimization techniques: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ALNS (Adaptive Large Neighborhood Search)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ACO (Ant Colony Optimization)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ABC (Artificial Bee Colony)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Scenario-based simulations.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>
            <a:spLocks noGrp="1"/>
          </p:cNvSpPr>
          <p:nvPr>
            <p:ph type="title"/>
          </p:nvPr>
        </p:nvSpPr>
        <p:spPr>
          <a:xfrm>
            <a:off x="561561" y="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3500" b="1"/>
              <a:t>Results and Outputs</a:t>
            </a:r>
            <a:endParaRPr sz="3500"/>
          </a:p>
        </p:txBody>
      </p:sp>
      <p:sp>
        <p:nvSpPr>
          <p:cNvPr id="192" name="Google Shape;192;p32"/>
          <p:cNvSpPr txBox="1"/>
          <p:nvPr/>
        </p:nvSpPr>
        <p:spPr>
          <a:xfrm>
            <a:off x="319369" y="1194825"/>
            <a:ext cx="7949100" cy="45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Optimization: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Optimised route distances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 Time: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taken to compute the routes and distances.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Delivery Time Improvement: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Analysing the changes between the different algorithms with dynamic demands.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Visualization: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Heatmaps and route graphs validated efficiency gains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ALNS performed better in reducing lateness (~12% improvement).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prediction models improved routing decisions.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2"/>
          <p:cNvSpPr/>
          <p:nvPr/>
        </p:nvSpPr>
        <p:spPr>
          <a:xfrm>
            <a:off x="-4" y="1315863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Conclusion</a:t>
            </a:r>
            <a:endParaRPr/>
          </a:p>
        </p:txBody>
      </p:sp>
      <p:sp>
        <p:nvSpPr>
          <p:cNvPr id="199" name="Google Shape;199;p3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81000" lvl="1" indent="-20955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This project demonstrates the effectiveness of integrating ML with traditional optimization for vehicle routing in urban delivery contexts.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381000" lvl="1" indent="-20955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The hybrid approach addresses key limitations of conventional VRP solvers by enabling adaptive, data-driven decision making.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381000" lvl="1" indent="-20955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Results show significant improvements in cost efficiency and delivery performance metrics.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381000" lvl="1" indent="-20955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The web-based prototype provides practical value for real-world deployment and visualization.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2600"/>
          </a:p>
        </p:txBody>
      </p:sp>
      <p:sp>
        <p:nvSpPr>
          <p:cNvPr id="200" name="Google Shape;200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01" name="Google Shape;201;p33"/>
          <p:cNvSpPr/>
          <p:nvPr/>
        </p:nvSpPr>
        <p:spPr>
          <a:xfrm>
            <a:off x="628646" y="1160172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Future Scope</a:t>
            </a:r>
            <a:endParaRPr/>
          </a:p>
        </p:txBody>
      </p:sp>
      <p:sp>
        <p:nvSpPr>
          <p:cNvPr id="207" name="Google Shape;207;p3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Integration of reinforcement learning for real-time route adaptation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Incorporation of electric vehicle constraints and charging station optimization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Multi-modal transportation integration (drones, bikes, autonomous vehicles)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Expansion to handle dynamic customer requests and crowd-sourced delivery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Carbon footprint optimization for sustainable logistics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8" name="Google Shape;208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09" name="Google Shape;209;p34"/>
          <p:cNvSpPr/>
          <p:nvPr/>
        </p:nvSpPr>
        <p:spPr>
          <a:xfrm>
            <a:off x="541846" y="1085672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References</a:t>
            </a:r>
            <a:endParaRPr/>
          </a:p>
        </p:txBody>
      </p:sp>
      <p:sp>
        <p:nvSpPr>
          <p:cNvPr id="215" name="Google Shape;215;p35"/>
          <p:cNvSpPr txBox="1">
            <a:spLocks noGrp="1"/>
          </p:cNvSpPr>
          <p:nvPr>
            <p:ph type="body" idx="1"/>
          </p:nvPr>
        </p:nvSpPr>
        <p:spPr>
          <a:xfrm>
            <a:off x="628650" y="1268025"/>
            <a:ext cx="7886700" cy="33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[1] Toth, P., Vigo, D. (2014). Vehicle Routing: Problems, Methods, and Applications. SIAM.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[2] Nazari, M., et al. (2018). Reinforcement Learning for Solving the Vehicle Routing Problem. NeurIPS.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[3] Kool, W., et al. (2019). Attention, Learn to Solve Routing Problems. ICLR.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[4] Li, J., et al. (2021). Deep Reinforcement Learning for Combinatorial Optimization. IEEE TPAMI.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[5] Google OR-Tools Documentation: https://developers.google.com/optimization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Microsoft Office PowerPoint</Application>
  <PresentationFormat>On-screen Show (16:9)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Times New Roman</vt:lpstr>
      <vt:lpstr>Roboto</vt:lpstr>
      <vt:lpstr>Calibri</vt:lpstr>
      <vt:lpstr>Simple Light</vt:lpstr>
      <vt:lpstr>1_Office Theme</vt:lpstr>
      <vt:lpstr>PowerPoint Presentation</vt:lpstr>
      <vt:lpstr>Outline</vt:lpstr>
      <vt:lpstr>Introduction to Project</vt:lpstr>
      <vt:lpstr>Problem Formulation</vt:lpstr>
      <vt:lpstr>Objectives of the Work</vt:lpstr>
      <vt:lpstr>Methodology used</vt:lpstr>
      <vt:lpstr>Results and Outputs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Nikhil Gusain</cp:lastModifiedBy>
  <cp:revision>2</cp:revision>
  <dcterms:modified xsi:type="dcterms:W3CDTF">2026-10-30T07:04:34Z</dcterms:modified>
</cp:coreProperties>
</file>