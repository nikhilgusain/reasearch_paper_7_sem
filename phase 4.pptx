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466" y="3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a588e3b9_2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g3bca588e3b9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a588e3b9_2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g3bca588e3b9_2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ca588e3b9_2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g3bca588e3b9_2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a588e3b9_2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g3bca588e3b9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ca588e3b9_2_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ca588e3b9_2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ca588e3b9_2_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g3bca588e3b9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ca588e3b9_2_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g3bca588e3b9_2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ca588e3b9_2_1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g3bca588e3b9_2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ca588e3b9_2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g3bca588e3b9_2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ca588e3b9_2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g3bca588e3b9_2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/>
        </p:nvSpPr>
        <p:spPr>
          <a:xfrm>
            <a:off x="-14287" y="1428750"/>
            <a:ext cx="9158288" cy="37147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5"/>
          <p:cNvSpPr/>
          <p:nvPr/>
        </p:nvSpPr>
        <p:spPr>
          <a:xfrm>
            <a:off x="-14287" y="0"/>
            <a:ext cx="9158288" cy="3328988"/>
          </a:xfrm>
          <a:custGeom>
            <a:avLst/>
            <a:gdLst/>
            <a:ahLst/>
            <a:cxnLst/>
            <a:rect l="l" t="t" r="r" b="b"/>
            <a:pathLst>
              <a:path w="12211050" h="4438650" extrusionOk="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rgbClr val="17161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814388" y="757238"/>
            <a:ext cx="7515225" cy="39290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5"/>
          <p:cNvSpPr>
            <a:spLocks noGrp="1"/>
          </p:cNvSpPr>
          <p:nvPr>
            <p:ph type="pic" idx="2"/>
          </p:nvPr>
        </p:nvSpPr>
        <p:spPr>
          <a:xfrm>
            <a:off x="1385888" y="2114550"/>
            <a:ext cx="6372225" cy="210026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-3316" y="4540346"/>
            <a:ext cx="9147315" cy="329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226648" y="4426489"/>
            <a:ext cx="34289" cy="4604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6572250" y="48815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/>
          <p:nvPr/>
        </p:nvSpPr>
        <p:spPr>
          <a:xfrm rot="10800000" flipH="1">
            <a:off x="7130143" y="4454910"/>
            <a:ext cx="968829" cy="868204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/>
          <p:nvPr/>
        </p:nvSpPr>
        <p:spPr>
          <a:xfrm flipH="1">
            <a:off x="5284124" y="210224"/>
            <a:ext cx="3859875" cy="43893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	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2023523" y="1107022"/>
            <a:ext cx="5177377" cy="2213197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5">
                <a:srgbClr val="FFFFFF">
                  <a:alpha val="0"/>
                </a:srgbClr>
              </a:gs>
              <a:gs pos="15000">
                <a:srgbClr val="FFFFFF">
                  <a:alpha val="32941"/>
                </a:srgbClr>
              </a:gs>
              <a:gs pos="51000">
                <a:schemeClr val="lt1"/>
              </a:gs>
              <a:gs pos="94000">
                <a:srgbClr val="FFFFFF">
                  <a:alpha val="32941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Submitted in the partial fulfillment for the award of the degree of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BACHELOR OF ENGINEERING 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Science and Business Systems 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/>
          <p:nvPr/>
        </p:nvSpPr>
        <p:spPr>
          <a:xfrm flipH="1">
            <a:off x="7372348" y="4000499"/>
            <a:ext cx="1774967" cy="120015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5161019" y="4514670"/>
            <a:ext cx="3696525" cy="48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" sz="15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" sz="15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5164335" y="4532735"/>
            <a:ext cx="34289" cy="2779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-79279" y="4545755"/>
            <a:ext cx="4412025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AIT-CSE</a:t>
            </a:r>
            <a:endParaRPr sz="12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913350" y="325988"/>
            <a:ext cx="7089900" cy="16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 b="1">
                <a:solidFill>
                  <a:schemeClr val="dk1"/>
                </a:solidFill>
              </a:rPr>
              <a:t>ML-Optimized Vehicle Routing for Urban Delivery Services</a:t>
            </a:r>
            <a:endParaRPr sz="7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6"/>
          <p:cNvSpPr txBox="1">
            <a:spLocks noGrp="1"/>
          </p:cNvSpPr>
          <p:nvPr>
            <p:ph type="sldNum" idx="12"/>
          </p:nvPr>
        </p:nvSpPr>
        <p:spPr>
          <a:xfrm>
            <a:off x="6572250" y="4999425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839269" y="3170619"/>
            <a:ext cx="4098900" cy="1223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Nikhil Gusain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- 23BCB100</a:t>
            </a:r>
            <a:r>
              <a:rPr lang="en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Aryan Dhasmana - 23BCB10081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Simranjit Kaur - 23BCB10084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Vishal Gupta </a:t>
            </a:r>
            <a:r>
              <a:rPr lang="en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- 23BCB10080</a:t>
            </a: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5759480" y="3433939"/>
            <a:ext cx="2499525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Supervision of: 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ts val="1500"/>
            </a:pPr>
            <a:r>
              <a:rPr lang="en-IN" sz="15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Krishna Kaushal Singh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664257" y="273844"/>
            <a:ext cx="7886700" cy="73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664256" y="1191165"/>
            <a:ext cx="7886700" cy="3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 to Project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 Formulation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Objectives of the work 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Methodology used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 and Outputs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154" name="Google Shape;154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Introduction to Project</a:t>
            </a:r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381000" lvl="1" indent="-186849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2100"/>
              <a:t>The Vehicle Routing Problem (VRP) is a classic combinatorial optimization challenge in logistics and transportation.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81000" lvl="1" indent="-186849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2100"/>
              <a:t>Urban delivery services face increasing complexity due to growing e-commerce demands, traffic congestion, and customer expectations for fast delivery.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81000" lvl="1" indent="-186849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2100"/>
              <a:t>This project leverages Machine Learning (ML) techniques combined with traditional optimization methods to create intelligent, adaptive routing solutions.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81000" lvl="1" indent="-186849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2100"/>
              <a:t>The hybrid approach aims to predict demand patterns, anticipate traffic conditions, and generate cost-effective delivery routes in real-time.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177800" lvl="0" indent="-50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</a:pPr>
            <a:endParaRPr sz="240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62" name="Google Shape;162;p28"/>
          <p:cNvSpPr/>
          <p:nvPr/>
        </p:nvSpPr>
        <p:spPr>
          <a:xfrm>
            <a:off x="309715" y="1000847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Problem Formulation</a:t>
            </a:r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5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Key Challenges: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Dynamic demand fluctuations across different time periods and locations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Real-time traffic congestion affecting delivery times unpredictably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Multiple constraints including vehicle capacity, time windows, and driver schedules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Traditional VRP solvers struggle with scalability in large urban networks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Need for adaptive solutions that can respond to changing conditions in real-time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391946" y="1188040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>
            <a:spLocks noGrp="1"/>
          </p:cNvSpPr>
          <p:nvPr>
            <p:ph type="title"/>
          </p:nvPr>
        </p:nvSpPr>
        <p:spPr>
          <a:xfrm>
            <a:off x="628650" y="240506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Objectives of the Work</a:t>
            </a:r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Develop ML models to forecast delivery demands and traffic patterns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Hybridize ML predictions with optimization techniques to generate efficient routes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Simulate and compare performance against traditional VRP solvers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Evaluate metrics like cost savings and delivery time reduction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Deploy a web-based prototype for visualization and demonstration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177" name="Google Shape;177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543921" y="1085665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Methodology used</a:t>
            </a:r>
            <a:endParaRPr/>
          </a:p>
        </p:txBody>
      </p:sp>
      <p:sp>
        <p:nvSpPr>
          <p:cNvPr id="184" name="Google Shape;184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85" name="Google Shape;185;p31"/>
          <p:cNvSpPr/>
          <p:nvPr/>
        </p:nvSpPr>
        <p:spPr>
          <a:xfrm>
            <a:off x="480803" y="1268015"/>
            <a:ext cx="8360100" cy="3681675"/>
          </a:xfrm>
          <a:prstGeom prst="roundRect">
            <a:avLst>
              <a:gd name="adj" fmla="val 16667"/>
            </a:avLst>
          </a:prstGeom>
          <a:solidFill>
            <a:srgbClr val="65736C">
              <a:alpha val="6274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1"/>
          <p:cNvSpPr txBox="1">
            <a:spLocks noGrp="1"/>
          </p:cNvSpPr>
          <p:nvPr>
            <p:ph type="body" idx="1"/>
          </p:nvPr>
        </p:nvSpPr>
        <p:spPr>
          <a:xfrm>
            <a:off x="774675" y="1435163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Data Collection:</a:t>
            </a:r>
            <a:r>
              <a:rPr lang="en"/>
              <a:t> Historical delivery data, traffic patterns, and demand records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ML Models:</a:t>
            </a:r>
            <a:r>
              <a:rPr lang="en"/>
              <a:t> LSTM/GRU for demand forecasting, Graph Neural Networks for traffic prediction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Optimization:</a:t>
            </a:r>
            <a:r>
              <a:rPr lang="en"/>
              <a:t> Hybrid approach combining metaheuristics (Genetic Algorithm, ACO) with ML predictions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Simulation:</a:t>
            </a:r>
            <a:r>
              <a:rPr lang="en"/>
              <a:t> Discrete event simulation for testing routing strategies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Web Prototype:</a:t>
            </a:r>
            <a:r>
              <a:rPr lang="en"/>
              <a:t> Flask/Django backend with React frontend for visualization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>
            <a:spLocks noGrp="1"/>
          </p:cNvSpPr>
          <p:nvPr>
            <p:ph type="title"/>
          </p:nvPr>
        </p:nvSpPr>
        <p:spPr>
          <a:xfrm>
            <a:off x="561561" y="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3500" b="1"/>
              <a:t>Results and Outputs</a:t>
            </a:r>
            <a:endParaRPr sz="3500"/>
          </a:p>
        </p:txBody>
      </p:sp>
      <p:sp>
        <p:nvSpPr>
          <p:cNvPr id="192" name="Google Shape;192;p32"/>
          <p:cNvSpPr txBox="1"/>
          <p:nvPr/>
        </p:nvSpPr>
        <p:spPr>
          <a:xfrm>
            <a:off x="260501" y="1194825"/>
            <a:ext cx="4377000" cy="3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3429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Optimization:</a:t>
            </a:r>
            <a:r>
              <a:rPr lang="en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Optimised route distances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 Time:</a:t>
            </a:r>
            <a:r>
              <a:rPr lang="en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taken to compute the routes and distances.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Delivery Time Improvement:</a:t>
            </a:r>
            <a:r>
              <a:rPr lang="en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Analysing the changes between the different algorithms with dynamic demands.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Visualization:</a:t>
            </a:r>
            <a:r>
              <a:rPr lang="en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Heatmaps and route graphs validated efficiency gains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162275" y="1074550"/>
            <a:ext cx="4826400" cy="38619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9045" y="898675"/>
            <a:ext cx="3872480" cy="386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Conclusion</a:t>
            </a:r>
            <a:endParaRPr/>
          </a:p>
        </p:txBody>
      </p:sp>
      <p:sp>
        <p:nvSpPr>
          <p:cNvPr id="201" name="Google Shape;201;p33"/>
          <p:cNvSpPr txBox="1">
            <a:spLocks noGrp="1"/>
          </p:cNvSpPr>
          <p:nvPr>
            <p:ph type="body" idx="1"/>
          </p:nvPr>
        </p:nvSpPr>
        <p:spPr>
          <a:xfrm>
            <a:off x="14500" y="1538650"/>
            <a:ext cx="4233300" cy="30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81000" lvl="1" indent="-16510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This project demonstrates the effectiveness of integrating ML with traditional optimization for vehicle routing in urban delivery contexts.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381000" lvl="1" indent="-16510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The hybrid approach addresses key limitations of conventional VRP solvers by enabling adaptive, data-driven decision making.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381000" lvl="1" indent="-16510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Results show significant improvements in cost efficiency and delivery performance metrics.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381000" lvl="1" indent="-16510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The web-based prototype provides practical value for real-world deployment and visualization.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1600"/>
          </a:p>
        </p:txBody>
      </p:sp>
      <p:sp>
        <p:nvSpPr>
          <p:cNvPr id="202" name="Google Shape;202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03" name="Google Shape;203;p33"/>
          <p:cNvSpPr/>
          <p:nvPr/>
        </p:nvSpPr>
        <p:spPr>
          <a:xfrm>
            <a:off x="62950" y="1157800"/>
            <a:ext cx="41364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350" y="1157800"/>
            <a:ext cx="4586275" cy="340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Future Scope</a:t>
            </a:r>
            <a:endParaRPr/>
          </a:p>
        </p:txBody>
      </p:sp>
      <p:sp>
        <p:nvSpPr>
          <p:cNvPr id="210" name="Google Shape;210;p34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4033200" cy="30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342900" lvl="0" indent="-268446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300000"/>
              <a:buChar char="•"/>
            </a:pPr>
            <a:r>
              <a:rPr lang="en"/>
              <a:t>Integration of reinforcement learning for real-time route adaptation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68446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300000"/>
              <a:buChar char="•"/>
            </a:pPr>
            <a:r>
              <a:rPr lang="en"/>
              <a:t>Incorporation of electric vehicle constraints and charging station optimization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68446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300000"/>
              <a:buChar char="•"/>
            </a:pPr>
            <a:r>
              <a:rPr lang="en"/>
              <a:t>Multi-modal transportation integration (drones, bikes, autonomous vehicles)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68446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300000"/>
              <a:buChar char="•"/>
            </a:pPr>
            <a:r>
              <a:rPr lang="en"/>
              <a:t>Expansion to handle dynamic customer requests and crowd-sourced delivery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68446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300000"/>
              <a:buChar char="•"/>
            </a:pPr>
            <a:r>
              <a:rPr lang="en"/>
              <a:t>Carbon footprint optimization for sustainable logistics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1" name="Google Shape;211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12" name="Google Shape;212;p34"/>
          <p:cNvSpPr/>
          <p:nvPr/>
        </p:nvSpPr>
        <p:spPr>
          <a:xfrm>
            <a:off x="541850" y="1085675"/>
            <a:ext cx="4228800" cy="3348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2532" y="1166266"/>
            <a:ext cx="4068552" cy="3051414"/>
          </a:xfrm>
          <a:prstGeom prst="rect">
            <a:avLst/>
          </a:prstGeom>
          <a:solidFill>
            <a:srgbClr val="65736C">
              <a:alpha val="6669"/>
            </a:srgbClr>
          </a:solidFill>
          <a:ln w="12700" cap="flat" cmpd="sng">
            <a:solidFill>
              <a:srgbClr val="264159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References</a:t>
            </a:r>
            <a:endParaRPr/>
          </a:p>
        </p:txBody>
      </p:sp>
      <p:sp>
        <p:nvSpPr>
          <p:cNvPr id="219" name="Google Shape;219;p35"/>
          <p:cNvSpPr txBox="1">
            <a:spLocks noGrp="1"/>
          </p:cNvSpPr>
          <p:nvPr>
            <p:ph type="body" idx="1"/>
          </p:nvPr>
        </p:nvSpPr>
        <p:spPr>
          <a:xfrm>
            <a:off x="628650" y="1268025"/>
            <a:ext cx="7886700" cy="33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[1] Toth, P., Vigo, D. (2014). Vehicle Routing: Problems, Methods, and Applications. SIAM.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[2] Nazari, M., et al. (2018). Reinforcement Learning for Solving the Vehicle Routing Problem. NeurIPS.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[3] Kool, W., et al. (2019). Attention, Learn to Solve Routing Problems. ICLR.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[4] Li, J., et al. (2021). Deep Reinforcement Learning for Combinatorial Optimization. IEEE TPAMI.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[5] Google OR-Tools Documentation: https://developers.google.com/optimization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</Words>
  <Application>Microsoft Office PowerPoint</Application>
  <PresentationFormat>On-screen Show (16:9)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Times New Roman</vt:lpstr>
      <vt:lpstr>Roboto</vt:lpstr>
      <vt:lpstr>Calibri</vt:lpstr>
      <vt:lpstr>Simple Light</vt:lpstr>
      <vt:lpstr>1_Office Theme</vt:lpstr>
      <vt:lpstr>PowerPoint Presentation</vt:lpstr>
      <vt:lpstr>Outline</vt:lpstr>
      <vt:lpstr>Introduction to Project</vt:lpstr>
      <vt:lpstr>Problem Formulation</vt:lpstr>
      <vt:lpstr>Objectives of the Work</vt:lpstr>
      <vt:lpstr>Methodology used</vt:lpstr>
      <vt:lpstr>Results and Outputs</vt:lpstr>
      <vt:lpstr>Conclusion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Nikhil Gusain</cp:lastModifiedBy>
  <cp:revision>2</cp:revision>
  <dcterms:modified xsi:type="dcterms:W3CDTF">2026-10-30T07:04:09Z</dcterms:modified>
</cp:coreProperties>
</file>