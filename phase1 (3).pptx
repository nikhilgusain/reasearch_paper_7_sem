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2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3" d="100"/>
          <a:sy n="33" d="100"/>
        </p:scale>
        <p:origin x="38" y="7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ca588e3b9_2_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g3bca588e3b9_2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ca588e3b9_2_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g3bca588e3b9_2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ca588e3b9_2_1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g3bca588e3b9_2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ca588e3b9_2_1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5" name="Google Shape;165;g3bca588e3b9_2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ca588e3b9_2_1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g3bca588e3b9_2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ca588e3b9_2_1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" name="Google Shape;181;g3bca588e3b9_2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ca588e3b9_2_1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g3bca588e3b9_2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ca588e3b9_2_1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g3bca588e3b9_2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ca588e3b9_2_1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g3bca588e3b9_2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ca588e3b9_2_1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3" name="Google Shape;213;g3bca588e3b9_2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1_Титульный слайд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/>
          <p:nvPr/>
        </p:nvSpPr>
        <p:spPr>
          <a:xfrm>
            <a:off x="-14287" y="1428750"/>
            <a:ext cx="9158288" cy="371475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5"/>
          <p:cNvSpPr/>
          <p:nvPr/>
        </p:nvSpPr>
        <p:spPr>
          <a:xfrm>
            <a:off x="-14287" y="0"/>
            <a:ext cx="9158288" cy="3328988"/>
          </a:xfrm>
          <a:custGeom>
            <a:avLst/>
            <a:gdLst/>
            <a:ahLst/>
            <a:cxnLst/>
            <a:rect l="l" t="t" r="r" b="b"/>
            <a:pathLst>
              <a:path w="12211050" h="4438650" extrusionOk="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rgbClr val="17161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5"/>
          <p:cNvSpPr/>
          <p:nvPr/>
        </p:nvSpPr>
        <p:spPr>
          <a:xfrm>
            <a:off x="814388" y="757238"/>
            <a:ext cx="7515225" cy="39290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5"/>
          <p:cNvSpPr>
            <a:spLocks noGrp="1"/>
          </p:cNvSpPr>
          <p:nvPr>
            <p:ph type="pic" idx="2"/>
          </p:nvPr>
        </p:nvSpPr>
        <p:spPr>
          <a:xfrm>
            <a:off x="1385888" y="2114550"/>
            <a:ext cx="6372225" cy="210026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/>
          <p:nvPr/>
        </p:nvSpPr>
        <p:spPr>
          <a:xfrm>
            <a:off x="-3316" y="4540346"/>
            <a:ext cx="9147315" cy="3293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6"/>
          <p:cNvSpPr/>
          <p:nvPr/>
        </p:nvSpPr>
        <p:spPr>
          <a:xfrm>
            <a:off x="226648" y="4426489"/>
            <a:ext cx="34289" cy="46041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6"/>
          <p:cNvSpPr txBox="1"/>
          <p:nvPr/>
        </p:nvSpPr>
        <p:spPr>
          <a:xfrm>
            <a:off x="6572250" y="48815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6"/>
          <p:cNvSpPr/>
          <p:nvPr/>
        </p:nvSpPr>
        <p:spPr>
          <a:xfrm rot="10800000" flipH="1">
            <a:off x="7130143" y="4454910"/>
            <a:ext cx="968829" cy="868204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6"/>
          <p:cNvSpPr/>
          <p:nvPr/>
        </p:nvSpPr>
        <p:spPr>
          <a:xfrm flipH="1">
            <a:off x="5284124" y="210224"/>
            <a:ext cx="3859875" cy="43893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	</a:t>
            </a: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6"/>
          <p:cNvSpPr/>
          <p:nvPr/>
        </p:nvSpPr>
        <p:spPr>
          <a:xfrm>
            <a:off x="2023523" y="1107022"/>
            <a:ext cx="5177377" cy="2213197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5">
                <a:srgbClr val="FFFFFF">
                  <a:alpha val="0"/>
                </a:srgbClr>
              </a:gs>
              <a:gs pos="15000">
                <a:srgbClr val="FFFFFF">
                  <a:alpha val="32941"/>
                </a:srgbClr>
              </a:gs>
              <a:gs pos="51000">
                <a:schemeClr val="lt1"/>
              </a:gs>
              <a:gs pos="94000">
                <a:srgbClr val="FFFFFF">
                  <a:alpha val="32941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Submitted in the partial fulfillment for the award of the degree of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BACHELOR OF ENGINEERING 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Computer Science and Business Systems 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6"/>
          <p:cNvSpPr/>
          <p:nvPr/>
        </p:nvSpPr>
        <p:spPr>
          <a:xfrm flipH="1">
            <a:off x="7372348" y="4000499"/>
            <a:ext cx="1774967" cy="120015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6"/>
          <p:cNvSpPr txBox="1"/>
          <p:nvPr/>
        </p:nvSpPr>
        <p:spPr>
          <a:xfrm>
            <a:off x="5161019" y="4514670"/>
            <a:ext cx="3696525" cy="48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DISCOVER . </a:t>
            </a:r>
            <a:r>
              <a:rPr lang="en" sz="1500" b="1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LEARN</a:t>
            </a:r>
            <a:r>
              <a:rPr lang="en" sz="15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. EMPOWER</a:t>
            </a:r>
            <a:endParaRPr sz="9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6"/>
          <p:cNvSpPr/>
          <p:nvPr/>
        </p:nvSpPr>
        <p:spPr>
          <a:xfrm>
            <a:off x="5164335" y="4532735"/>
            <a:ext cx="34289" cy="27796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-79279" y="4545755"/>
            <a:ext cx="4412025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AIT-CSE</a:t>
            </a:r>
            <a:endParaRPr sz="1200" b="0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913350" y="325988"/>
            <a:ext cx="7089900" cy="16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lvl="0" indent="0" algn="ctr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200" b="1">
                <a:solidFill>
                  <a:schemeClr val="dk1"/>
                </a:solidFill>
              </a:rPr>
              <a:t>ML-Optimized Vehicle Routing for Urban Delivery Services</a:t>
            </a:r>
            <a:endParaRPr sz="700">
              <a:solidFill>
                <a:schemeClr val="dk1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endParaRPr sz="2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6"/>
          <p:cNvSpPr txBox="1">
            <a:spLocks noGrp="1"/>
          </p:cNvSpPr>
          <p:nvPr>
            <p:ph type="sldNum" idx="12"/>
          </p:nvPr>
        </p:nvSpPr>
        <p:spPr>
          <a:xfrm>
            <a:off x="6572250" y="4999425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146" name="Google Shape;146;p26"/>
          <p:cNvSpPr txBox="1"/>
          <p:nvPr/>
        </p:nvSpPr>
        <p:spPr>
          <a:xfrm>
            <a:off x="839269" y="3170619"/>
            <a:ext cx="4098900" cy="1223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Submitted by: </a:t>
            </a:r>
            <a:endParaRPr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Nikhil Gusain</a:t>
            </a:r>
            <a:r>
              <a:rPr lang="en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- 23BCB100</a:t>
            </a:r>
            <a:r>
              <a:rPr lang="en" sz="1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Aryan Dhasmana - 23BCB10081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Simranjit Kaur - 23BCB10084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Vishal Gupta </a:t>
            </a:r>
            <a:r>
              <a:rPr lang="en"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- 23BCB10080</a:t>
            </a:r>
            <a:endParaRPr sz="1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5759480" y="3433939"/>
            <a:ext cx="2499525" cy="53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the Supervision of: 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SzPts val="1500"/>
            </a:pPr>
            <a:r>
              <a:rPr lang="en-IN" sz="150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Krishna Kaushal Singh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>
            <a:spLocks noGrp="1"/>
          </p:cNvSpPr>
          <p:nvPr>
            <p:ph type="title"/>
          </p:nvPr>
        </p:nvSpPr>
        <p:spPr>
          <a:xfrm>
            <a:off x="664257" y="273844"/>
            <a:ext cx="7886700" cy="732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/>
          </a:p>
        </p:txBody>
      </p:sp>
      <p:sp>
        <p:nvSpPr>
          <p:cNvPr id="153" name="Google Shape;153;p27"/>
          <p:cNvSpPr txBox="1">
            <a:spLocks noGrp="1"/>
          </p:cNvSpPr>
          <p:nvPr>
            <p:ph type="body" idx="1"/>
          </p:nvPr>
        </p:nvSpPr>
        <p:spPr>
          <a:xfrm>
            <a:off x="664256" y="1191165"/>
            <a:ext cx="7886700" cy="3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14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Introduction to Project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Problem Formulation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Objectives of the work 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Methodology used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Results and Outputs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/>
          </a:p>
          <a:p>
            <a:pPr marL="177800" lvl="0" indent="-1714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  <a:p>
            <a:pPr marL="177800" lvl="0" indent="-381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  <p:sp>
        <p:nvSpPr>
          <p:cNvPr id="154" name="Google Shape;154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b="1"/>
              <a:t>Introduction to Project</a:t>
            </a:r>
            <a:endParaRPr/>
          </a:p>
        </p:txBody>
      </p:sp>
      <p:sp>
        <p:nvSpPr>
          <p:cNvPr id="160" name="Google Shape;160;p28"/>
          <p:cNvSpPr txBox="1">
            <a:spLocks noGrp="1"/>
          </p:cNvSpPr>
          <p:nvPr>
            <p:ph type="body" idx="1"/>
          </p:nvPr>
        </p:nvSpPr>
        <p:spPr>
          <a:xfrm>
            <a:off x="519725" y="1810525"/>
            <a:ext cx="8218200" cy="27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lvl="0" indent="-368300" algn="l" rtl="0">
              <a:spcBef>
                <a:spcPts val="8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Urban delivery systems face major challenges due to unpredictable demand and traffic conditions.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This project focuses on </a:t>
            </a:r>
            <a:r>
              <a:rPr lang="en" sz="2200" b="1">
                <a:latin typeface="Arial"/>
                <a:ea typeface="Arial"/>
                <a:cs typeface="Arial"/>
                <a:sym typeface="Arial"/>
              </a:rPr>
              <a:t>Stochastic Vehicle Routing Problem (SVRP)</a:t>
            </a:r>
            <a:r>
              <a:rPr lang="en" sz="2200">
                <a:latin typeface="Arial"/>
                <a:ea typeface="Arial"/>
                <a:cs typeface="Arial"/>
                <a:sym typeface="Arial"/>
              </a:rPr>
              <a:t> for last-mile delivery.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It proposes a machine learning–driven approach to improve delivery efficiency in cities like Chandigarh.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" sz="2200">
                <a:latin typeface="Arial"/>
                <a:ea typeface="Arial"/>
                <a:cs typeface="Arial"/>
                <a:sym typeface="Arial"/>
              </a:rPr>
              <a:t>Combines prediction models with optimization algorithms to generate better delivery routes.</a:t>
            </a:r>
            <a:endParaRPr sz="2200"/>
          </a:p>
        </p:txBody>
      </p:sp>
      <p:sp>
        <p:nvSpPr>
          <p:cNvPr id="161" name="Google Shape;161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62" name="Google Shape;162;p28"/>
          <p:cNvSpPr/>
          <p:nvPr/>
        </p:nvSpPr>
        <p:spPr>
          <a:xfrm>
            <a:off x="489751" y="1354476"/>
            <a:ext cx="8164500" cy="3412800"/>
          </a:xfrm>
          <a:prstGeom prst="roundRect">
            <a:avLst>
              <a:gd name="adj" fmla="val 16667"/>
            </a:avLst>
          </a:prstGeom>
          <a:solidFill>
            <a:srgbClr val="65736C">
              <a:alpha val="6666"/>
            </a:srgbClr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b="1"/>
              <a:t>Problem Formulation</a:t>
            </a:r>
            <a:endParaRPr/>
          </a:p>
        </p:txBody>
      </p:sp>
      <p:sp>
        <p:nvSpPr>
          <p:cNvPr id="168" name="Google Shape;168;p29"/>
          <p:cNvSpPr txBox="1">
            <a:spLocks noGrp="1"/>
          </p:cNvSpPr>
          <p:nvPr>
            <p:ph type="body" idx="1"/>
          </p:nvPr>
        </p:nvSpPr>
        <p:spPr>
          <a:xfrm>
            <a:off x="628650" y="1369225"/>
            <a:ext cx="8075400" cy="3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b="1">
                <a:latin typeface="Arial"/>
                <a:ea typeface="Arial"/>
                <a:cs typeface="Arial"/>
                <a:sym typeface="Arial"/>
              </a:rPr>
              <a:t>Problem Formulation</a:t>
            </a:r>
            <a:endParaRPr sz="18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Traditional routing assumes fixed demand and travel times → unrealistic in urban environments.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Key uncertainties: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Dynamic customer demand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Time-varying traffic conditions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Objective: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Minimize delivery cost, time, and lateness under uncertainty.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Need for a system that adapts routes dynamically based on real-world conditions.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3429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170" name="Google Shape;170;p29"/>
          <p:cNvSpPr/>
          <p:nvPr/>
        </p:nvSpPr>
        <p:spPr>
          <a:xfrm>
            <a:off x="391946" y="1085665"/>
            <a:ext cx="8360100" cy="3681600"/>
          </a:xfrm>
          <a:prstGeom prst="roundRect">
            <a:avLst>
              <a:gd name="adj" fmla="val 16667"/>
            </a:avLst>
          </a:prstGeom>
          <a:solidFill>
            <a:srgbClr val="65736C">
              <a:alpha val="6666"/>
            </a:srgbClr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>
            <a:spLocks noGrp="1"/>
          </p:cNvSpPr>
          <p:nvPr>
            <p:ph type="title"/>
          </p:nvPr>
        </p:nvSpPr>
        <p:spPr>
          <a:xfrm>
            <a:off x="628650" y="240506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b="1"/>
              <a:t>Objectives of the Work</a:t>
            </a:r>
            <a:endParaRPr/>
          </a:p>
        </p:txBody>
      </p:sp>
      <p:sp>
        <p:nvSpPr>
          <p:cNvPr id="176" name="Google Shape;176;p3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Develop a stochastic routing framework for urban delivery.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Predict demand and traffic patterns using ML models.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Integrate predictions with optimization algorithms.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Evaluate routing performance under real-world uncertainties.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Improve service quality and reduce delivery cost.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marL="3429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178" name="Google Shape;178;p30"/>
          <p:cNvSpPr/>
          <p:nvPr/>
        </p:nvSpPr>
        <p:spPr>
          <a:xfrm>
            <a:off x="241371" y="1097768"/>
            <a:ext cx="8360100" cy="3681600"/>
          </a:xfrm>
          <a:prstGeom prst="roundRect">
            <a:avLst>
              <a:gd name="adj" fmla="val 16667"/>
            </a:avLst>
          </a:prstGeom>
          <a:solidFill>
            <a:srgbClr val="65736C">
              <a:alpha val="6666"/>
            </a:srgbClr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b="1"/>
              <a:t>Methodology used</a:t>
            </a:r>
            <a:endParaRPr/>
          </a:p>
        </p:txBody>
      </p:sp>
      <p:sp>
        <p:nvSpPr>
          <p:cNvPr id="184" name="Google Shape;184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185" name="Google Shape;185;p31"/>
          <p:cNvSpPr/>
          <p:nvPr/>
        </p:nvSpPr>
        <p:spPr>
          <a:xfrm>
            <a:off x="246728" y="1202903"/>
            <a:ext cx="8360100" cy="3681600"/>
          </a:xfrm>
          <a:prstGeom prst="roundRect">
            <a:avLst>
              <a:gd name="adj" fmla="val 16667"/>
            </a:avLst>
          </a:prstGeom>
          <a:solidFill>
            <a:srgbClr val="65736C">
              <a:alpha val="6274"/>
            </a:srgbClr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1"/>
          <p:cNvSpPr txBox="1">
            <a:spLocks noGrp="1"/>
          </p:cNvSpPr>
          <p:nvPr>
            <p:ph type="body" idx="1"/>
          </p:nvPr>
        </p:nvSpPr>
        <p:spPr>
          <a:xfrm>
            <a:off x="483425" y="1268050"/>
            <a:ext cx="7886700" cy="3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9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Data collection from open urban datasets (Chandigarh).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Demand prediction using: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ARIMA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LSTM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Traffic prediction models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Routing using: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OR-Tools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Heuristics (Nearest Neighbor)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>
                <a:latin typeface="Arial"/>
                <a:ea typeface="Arial"/>
                <a:cs typeface="Arial"/>
                <a:sym typeface="Arial"/>
              </a:rPr>
              <a:t>Simulation environment for testing uncertainty.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3429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900"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>
            <a:spLocks noGrp="1"/>
          </p:cNvSpPr>
          <p:nvPr>
            <p:ph type="title"/>
          </p:nvPr>
        </p:nvSpPr>
        <p:spPr>
          <a:xfrm>
            <a:off x="561561" y="0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sz="3500" b="1"/>
              <a:t>Results and Outputs</a:t>
            </a:r>
            <a:endParaRPr sz="3500"/>
          </a:p>
        </p:txBody>
      </p:sp>
      <p:sp>
        <p:nvSpPr>
          <p:cNvPr id="192" name="Google Shape;192;p32"/>
          <p:cNvSpPr txBox="1"/>
          <p:nvPr/>
        </p:nvSpPr>
        <p:spPr>
          <a:xfrm>
            <a:off x="319369" y="1194825"/>
            <a:ext cx="7949100" cy="27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spAutoFit/>
          </a:bodyPr>
          <a:lstStyle/>
          <a:p>
            <a:pPr marL="3429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 Optimization:</a:t>
            </a: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Optimised route distances 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Computation Time:</a:t>
            </a: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taken to compute the routes and distances.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Delivery Time Improvement:</a:t>
            </a: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Analysing the changes between the different algorithms with dynamic demands.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Visualization:</a:t>
            </a:r>
            <a:r>
              <a:rPr lang="en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Heatmaps and route graphs validated efficiency gains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94" name="Google Shape;194;p32"/>
          <p:cNvSpPr/>
          <p:nvPr/>
        </p:nvSpPr>
        <p:spPr>
          <a:xfrm>
            <a:off x="113871" y="796188"/>
            <a:ext cx="8360100" cy="3681600"/>
          </a:xfrm>
          <a:prstGeom prst="roundRect">
            <a:avLst>
              <a:gd name="adj" fmla="val 16667"/>
            </a:avLst>
          </a:prstGeom>
          <a:solidFill>
            <a:srgbClr val="65736C">
              <a:alpha val="6666"/>
            </a:srgbClr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b="1"/>
              <a:t>Conclusion</a:t>
            </a:r>
            <a:endParaRPr/>
          </a:p>
        </p:txBody>
      </p:sp>
      <p:sp>
        <p:nvSpPr>
          <p:cNvPr id="200" name="Google Shape;200;p3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381000" lvl="1" indent="-20955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" sz="2300"/>
              <a:t>This project demonstrates the effectiveness of integrating ML with traditional optimization for vehicle routing in urban delivery contexts.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381000" lvl="1" indent="-20955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" sz="2300"/>
              <a:t>The hybrid approach addresses key limitations of conventional VRP solvers by enabling adaptive, data-driven decision making.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381000" lvl="1" indent="-20955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" sz="2300"/>
              <a:t>Results show significant improvements in cost efficiency and delivery performance metrics.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381000" lvl="1" indent="-209550" algn="l" rtl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" sz="2300"/>
              <a:t>The web-based prototype provides practical value for real-world deployment and visualization.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342900" lvl="0" indent="0" algn="l" rtl="0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endParaRPr sz="2600"/>
          </a:p>
        </p:txBody>
      </p:sp>
      <p:sp>
        <p:nvSpPr>
          <p:cNvPr id="201" name="Google Shape;201;p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202" name="Google Shape;202;p33"/>
          <p:cNvSpPr/>
          <p:nvPr/>
        </p:nvSpPr>
        <p:spPr>
          <a:xfrm>
            <a:off x="628646" y="1160172"/>
            <a:ext cx="8360100" cy="3681600"/>
          </a:xfrm>
          <a:prstGeom prst="roundRect">
            <a:avLst>
              <a:gd name="adj" fmla="val 16667"/>
            </a:avLst>
          </a:prstGeom>
          <a:solidFill>
            <a:srgbClr val="65736C">
              <a:alpha val="6666"/>
            </a:srgbClr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b="1"/>
              <a:t>Future Scope</a:t>
            </a:r>
            <a:endParaRPr/>
          </a:p>
        </p:txBody>
      </p:sp>
      <p:sp>
        <p:nvSpPr>
          <p:cNvPr id="208" name="Google Shape;208;p3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42900" lvl="0" indent="-2984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Integration of reinforcement learning for real-time route adaptation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-2984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Incorporation of electric vehicle constraints and charging station optimization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-2984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Multi-modal transportation integration (drones, bikes, autonomous vehicles)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-2984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Expansion to handle dynamic customer requests and crowd-sourced delivery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-2984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"/>
              <a:t>Carbon footprint optimization for sustainable logistics</a:t>
            </a:r>
            <a:endParaRPr sz="700">
              <a:latin typeface="Arial"/>
              <a:ea typeface="Arial"/>
              <a:cs typeface="Arial"/>
              <a:sym typeface="Arial"/>
            </a:endParaRPr>
          </a:p>
          <a:p>
            <a:pPr marL="3429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9" name="Google Shape;209;p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10" name="Google Shape;210;p34"/>
          <p:cNvSpPr/>
          <p:nvPr/>
        </p:nvSpPr>
        <p:spPr>
          <a:xfrm>
            <a:off x="541846" y="1085672"/>
            <a:ext cx="8360100" cy="3681600"/>
          </a:xfrm>
          <a:prstGeom prst="roundRect">
            <a:avLst>
              <a:gd name="adj" fmla="val 16667"/>
            </a:avLst>
          </a:prstGeom>
          <a:solidFill>
            <a:srgbClr val="65736C">
              <a:alpha val="6666"/>
            </a:srgbClr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" b="1"/>
              <a:t>References</a:t>
            </a:r>
            <a:endParaRPr/>
          </a:p>
        </p:txBody>
      </p:sp>
      <p:sp>
        <p:nvSpPr>
          <p:cNvPr id="216" name="Google Shape;216;p35"/>
          <p:cNvSpPr txBox="1">
            <a:spLocks noGrp="1"/>
          </p:cNvSpPr>
          <p:nvPr>
            <p:ph type="body" idx="1"/>
          </p:nvPr>
        </p:nvSpPr>
        <p:spPr>
          <a:xfrm>
            <a:off x="628650" y="1268025"/>
            <a:ext cx="7886700" cy="336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42900" lvl="0" indent="-2730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[1] Toth, P., Vigo, D. (2014). Vehicle Routing: Problems, Methods, and Applications. SIAM.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342900" lvl="0" indent="-2730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[2] Nazari, M., et al. (2018). Reinforcement Learning for Solving the Vehicle Routing Problem. NeurIPS.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342900" lvl="0" indent="-2730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[3] Kool, W., et al. (2019). Attention, Learn to Solve Routing Problems. ICLR.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342900" lvl="0" indent="-2730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[4] Li, J., et al. (2021). Deep Reinforcement Learning for Combinatorial Optimization. IEEE TPAMI.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342900" lvl="0" indent="-2730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[5] Google OR-Tools Documentation: https://developers.google.com/optimization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3429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552</Words>
  <Application>Microsoft Office PowerPoint</Application>
  <PresentationFormat>On-screen Show (16:9)</PresentationFormat>
  <Paragraphs>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Roboto</vt:lpstr>
      <vt:lpstr>Arial</vt:lpstr>
      <vt:lpstr>Times New Roman</vt:lpstr>
      <vt:lpstr>Calibri</vt:lpstr>
      <vt:lpstr>Simple Light</vt:lpstr>
      <vt:lpstr>1_Office Theme</vt:lpstr>
      <vt:lpstr>PowerPoint Presentation</vt:lpstr>
      <vt:lpstr>Outline</vt:lpstr>
      <vt:lpstr>Introduction to Project</vt:lpstr>
      <vt:lpstr>Problem Formulation</vt:lpstr>
      <vt:lpstr>Objectives of the Work</vt:lpstr>
      <vt:lpstr>Methodology used</vt:lpstr>
      <vt:lpstr>Results and Outputs</vt:lpstr>
      <vt:lpstr>Conclusion</vt:lpstr>
      <vt:lpstr>Future Scope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Nikhil Gusain</cp:lastModifiedBy>
  <cp:revision>2</cp:revision>
  <dcterms:modified xsi:type="dcterms:W3CDTF">2026-10-30T07:04:24Z</dcterms:modified>
</cp:coreProperties>
</file>